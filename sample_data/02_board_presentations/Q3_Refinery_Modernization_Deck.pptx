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a="http://schemas.openxmlformats.org/drawingml/2006/main" xmlns:p="http://schemas.openxmlformats.org/presentationml/2006/main">
  <p:cSld>
    <p:spTree>
      <p:nvGrpSpPr><p:cNvPr id="1" name=""/><p:cNvGrpSpPr/><p:nvPr/></p:nvGrpSpPr>
      <p:grpSpPr/>
      <!-- Title Box -->
      <p:sp>
        <p:nvSpPr><p:cNvPr id="2" name="Title"/><p:cNvSpPr><a:spLocks noGrp="1"/></p:cNvSpPr><p:nvPr/></p:nvSpPr>
        <p:spPr><a:xfrm><a:off x="838200" y="609600"/><a:ext cx="10515600" cy="1143000"/></a:xfrm></p:spPr>
        <p:txBody>
          <a:bodyPr/>
          <a:p><a:r><a:rPr lang="en-US" b="1" sz="3600"/><a:t>Project Urja-Vikas: Refinery Modernization & Green Hydrogen</a:t></a:r></a:p>
          <a:p><a:r><a:rPr lang="en-US" i="1" sz="2000"/><a:t>442nd Board of Directors Meeting - Agenda Item 14</a:t></a:r></a:p>
        </p:txBody>
      </p:sp>
      <!-- Content Box -->
      <p:sp>
        <p:nvSpPr><p:cNvPr id="3" name="Content"/><p:cNvSpPr><a:spLocks noGrp="1"/></p:cNvSpPr><p:nvPr/></p:nvSpPr>
        <p:spPr><a:xfrm><a:off x="838200" y="2057400"/><a:ext cx="10515600" cy="4191000"/></a:xfrm></p:spPr>
        <p:txBody>
          <a:bodyPr/>
          <a:p>
          <a:pPr lvl="0"/>
          <a:r><a:rPr lang="en-US" sz="1800"/><a:t>Strategic Capex: ₹14,250 Crores allocated across Mumbai &amp; Bina Refineries (FY26-FY29).</a:t></a:r>
        </a:p><a:p>
          <a:pPr lvl="0"/>
          <a:r><a:rPr lang="en-US" sz="1800"/><a:t>Crude Capacity Expansion: Increasing combined throughput from 27.5 MMTPA to 33.0 MMTPA.</a:t></a:r>
        </a:p><a:p>
          <a:pPr lvl="0"/>
          <a:r><a:rPr lang="en-US" sz="1800"/><a:t>Green Hydrogen: 20 KTA PEM Electrolyzer displacing 18% of grey hydrogen (1.85 MMT CO2e/yr avoided).</a:t></a:r>
        </a:p><a:p>
          <a:pPr lvl="0"/>
          <a:r><a:rPr lang="en-US" sz="1800"/><a:t>Capital Structure: 65% Internal Accruals + 35% Multilateral Green Bonds (sub-6.2% coupon).</a:t></a:r>
        </a:p><a:p>
          <a:pPr lvl="0"/>
          <a:r><a:rPr lang="en-US" sz="1800"/><a:t>Projected Return: Weighted Average Internal Rate of Return (IRR) of 17.6%.</a:t></a:r>
        </a:p><a:p>
          <a:pPr lvl="0"/>
          <a:r><a:rPr lang="en-US" sz="1800"/><a:t>Air-Gapped Sovereign AI: On-premises LLM workbench ensuring 100% data residency and zero cloud leaks.</a:t></a:r>
        </a:p>
        </p:txBody>
      </p:sp>
    </p:spTree>
  </p:cSld>
</p:sld>
</file>